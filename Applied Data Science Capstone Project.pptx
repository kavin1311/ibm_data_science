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88D8-DFB7-2F4A-A1CF-C4834BE01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FEB9B-1D52-5B5A-520A-D422F40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4F4CA-4F75-93D6-4F68-39D73D0D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1D94-CA08-2935-397B-15A14F97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FA5F-2A2B-D5E8-F954-98BD4089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01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8E6-EEBF-D2C1-018A-D159238A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C00B-3CF0-FDCD-7A83-841BD23AE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25C5B-9250-633C-6432-E1ED5770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BFDD6-B63D-A945-C9BA-275757A7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B26AD-2DDB-BF5C-9ACE-B637F59D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3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17F4-5355-0122-E0E1-AA4D6B0E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CA673-B1B5-484B-B2A5-EC460508F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E996C-A260-48B2-7F43-9F0A7064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EC5A3-8E4F-533E-1F5D-2874363B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C933-037D-BE30-DCFD-B7FE83AF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46EE-A291-A69E-054D-5EF610D9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D927-760B-4F6E-3CDC-783D65CE4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A2A1B-4607-082B-4557-A687A43A4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35CAA-0F21-ED57-50B1-61C20E0C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2380B-4DD0-254C-2F0C-C72273DE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9BABE-3EE7-4A00-19FE-54197E1E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56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820C-1EF0-6070-C9C8-2C5E3EA2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2C438-983D-C778-649C-440AF4240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4F701-9FA4-2F27-6937-BF7CAD621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E02F0-5C65-72AC-A09F-68675BEF2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46550-85D2-5AF2-999E-A4E0F9624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2E4976-ED41-6D41-BF3D-23E6E4A7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F10B3-CC6A-E5D9-0907-EC2E5E50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45617-59DF-87F6-F72C-1BCE6613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04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4D87-1FDD-051B-56D3-00D5030D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399EE-AE82-601E-8B55-DBF7A798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CF0C5-80D5-CD06-D6B1-C562C828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A6A97-391B-5E63-B5DF-459D6641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3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C2237-2DB3-3AA9-B91D-F6AE3FA5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E70A1-EFFA-559B-520B-C7C71CD5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D2401-0AE6-7E3A-B139-EAFD9EEA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75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3E9A-76A8-1092-03F9-5B5EA8DC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493F-78E0-EF81-338F-5AA26782A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A024-C426-19AA-86D6-A9CDE3561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4872-138E-A59A-F58E-75DDD474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CDE56-E2A1-594C-2309-F0B5F4C6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444CD-E48F-1275-6955-BC3666DB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9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A924-54CE-ED6C-7589-F48E4DD2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BD15B-D332-B63E-0B3B-73C8A1878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6FB07-4FBA-1AE5-D212-670E4A547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A7202-49BD-E488-E3FA-D04964BA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18BDE-5A8F-4597-5F82-88544C6D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DC2A8-5E4A-6CE2-C6A1-91500302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0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6833-661C-27C7-FF09-501C9D8E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05895-6FE1-9074-3BB0-9E4C3B712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6A320-A87A-579E-AA9C-8DDBFDCF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7434-4467-CC91-71D9-65AB3D66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3658F-0437-FD4F-B594-EB3A2C50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8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59C08-2844-C4DA-0D85-16B9643A5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08DF1-00DA-6BFD-AEC1-0E619850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3CC21-9D66-CCD8-DC4D-798B1303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F4C1A-B834-5A64-54B8-D535178F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11C0-E5A2-4CBA-06E8-39EA9904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4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BC8B2-6377-1FB2-F44A-412BEC18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AA6C2-5C07-C869-7EE1-7D400D8C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5DB3-AE2E-4EB7-630E-5ABB3EBEF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FCCD5-CB22-4936-BD7E-95AFCA0539A3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EB590-BD6B-6C39-05D0-58B54B4E2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D9FF-549C-C2F9-D6E5-900793AE8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B08DE-AAF3-4FAF-9BA8-AB36578BE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3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E1D2-FB5D-5085-1F9C-063F8FF7A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Applied Data Science Capstone Project 	 </a:t>
            </a:r>
            <a:br>
              <a:rPr lang="en-US" dirty="0"/>
            </a:br>
            <a:r>
              <a:rPr lang="en-US" dirty="0"/>
              <a:t>Predicting SpaceX Falcon 9 First Stage Landing Success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3C194-5549-1283-63D5-EE739C779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9600" b="1" dirty="0"/>
              <a:t>Submitted By:</a:t>
            </a:r>
          </a:p>
          <a:p>
            <a:r>
              <a:rPr lang="en-IN" sz="9600" dirty="0"/>
              <a:t>Kavin </a:t>
            </a:r>
            <a:r>
              <a:rPr lang="en-IN" sz="9600" dirty="0" err="1"/>
              <a:t>Ajai.T</a:t>
            </a:r>
            <a:endParaRPr lang="en-IN" sz="9600" dirty="0"/>
          </a:p>
          <a:p>
            <a:r>
              <a:rPr lang="en-IN" sz="9600" b="1" dirty="0"/>
              <a:t>Course:</a:t>
            </a:r>
          </a:p>
          <a:p>
            <a:r>
              <a:rPr lang="en-IN" sz="9600" dirty="0"/>
              <a:t>IBM Applied Data Science Capstone</a:t>
            </a:r>
          </a:p>
          <a:p>
            <a:r>
              <a:rPr lang="en-IN" sz="9600" b="1" dirty="0"/>
              <a:t>Tools &amp; Technologies:</a:t>
            </a:r>
          </a:p>
          <a:p>
            <a:r>
              <a:rPr lang="en-IN" sz="9600" dirty="0"/>
              <a:t>Python | Pandas | NumPy | Matplotlib | Seaborn | Scikit-learn</a:t>
            </a:r>
          </a:p>
          <a:p>
            <a:r>
              <a:rPr lang="en-IN" sz="9600" b="1" dirty="0"/>
              <a:t>Date:</a:t>
            </a:r>
          </a:p>
          <a:p>
            <a:r>
              <a:rPr lang="en-IN" sz="9600" dirty="0"/>
              <a:t>March 2026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28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4964-ABF5-C285-9253-7401A369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2️⃣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2296-25E6-32F2-C22B-A8D7780C8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Objective</a:t>
            </a:r>
          </a:p>
          <a:p>
            <a:r>
              <a:rPr lang="en-US" dirty="0"/>
              <a:t>The objective of this project is to analyze historical launch data from SpaceX and build a machine learning model to predict whether the Falcon 9 first stage will successfully land.</a:t>
            </a:r>
          </a:p>
          <a:p>
            <a:r>
              <a:rPr lang="en-US" b="1" dirty="0"/>
              <a:t>Why This Problem Matters</a:t>
            </a:r>
          </a:p>
          <a:p>
            <a:r>
              <a:rPr lang="en-US" dirty="0"/>
              <a:t>Rocket launches are extremely expensive.</a:t>
            </a:r>
          </a:p>
          <a:p>
            <a:r>
              <a:rPr lang="en-US" dirty="0"/>
              <a:t>Reusing the Falcon 9 first stage significantly reduces launch costs.</a:t>
            </a:r>
          </a:p>
          <a:p>
            <a:r>
              <a:rPr lang="en-US" dirty="0"/>
              <a:t>Accurate prediction of landing success helps estimate mission cost.</a:t>
            </a:r>
          </a:p>
          <a:p>
            <a:r>
              <a:rPr lang="en-US" dirty="0"/>
              <a:t>It supports better decision-making for commercial space missions.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99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6F50-0F0D-E3A7-CFA2-FD35FC77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Business Goal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To develop a predictive model that can:</a:t>
            </a:r>
            <a:br>
              <a:rPr lang="en-US" dirty="0"/>
            </a:br>
            <a:r>
              <a:rPr lang="en-US" dirty="0"/>
              <a:t>Identify key factors influencing landing success.</a:t>
            </a:r>
            <a:br>
              <a:rPr lang="en-US" dirty="0"/>
            </a:br>
            <a:r>
              <a:rPr lang="en-US" dirty="0"/>
              <a:t>Improve cost estimation accuracy.</a:t>
            </a:r>
            <a:br>
              <a:rPr lang="en-US" dirty="0"/>
            </a:br>
            <a:r>
              <a:rPr lang="en-US" dirty="0"/>
              <a:t>Provide actionable insights based on historical data.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665C-DB57-721E-C078-1FAD43175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25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57F7-3397-97D8-D8B0-7FC155A7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IN" dirty="0"/>
              <a:t>Business Understanding &amp; Industry Context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Industry Overview</a:t>
            </a:r>
            <a:br>
              <a:rPr lang="en-US" b="1" dirty="0"/>
            </a:br>
            <a:r>
              <a:rPr lang="en-US" dirty="0"/>
              <a:t>SpaceX is a private aerospace company focused on reducing space transportation costs and enabling the colonization of Mars.</a:t>
            </a:r>
            <a:br>
              <a:rPr lang="en-US" dirty="0"/>
            </a:br>
            <a:r>
              <a:rPr lang="en-US" dirty="0"/>
              <a:t>One of its major innovations is the </a:t>
            </a:r>
            <a:r>
              <a:rPr lang="en-US" b="1" dirty="0"/>
              <a:t>reusable Falcon 9 rocket</a:t>
            </a:r>
            <a:r>
              <a:rPr lang="en-US" dirty="0"/>
              <a:t>, which allows the first stage booster to land safely after launch.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01EA9-2469-4268-19CF-6F6512BD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89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9971-D176-72D4-B086-4D097D03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Challenge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7FE71D-E09C-BE75-92B5-0662E58B1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2"/>
            <a:ext cx="10291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rockets are single-use, making launches extremely expensive.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Landing failures result in loss of equipment worth millions of dollars.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landing success can improve: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estimation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49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F76B-9733-6EFB-B9BE-15296391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693A-2B11-A1EE-4BA6-C64427516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 Source</a:t>
            </a:r>
          </a:p>
          <a:p>
            <a:r>
              <a:rPr lang="en-US" dirty="0"/>
              <a:t>The dataset used in this project was collected from publicly available launch records of SpaceX.</a:t>
            </a:r>
          </a:p>
          <a:p>
            <a:r>
              <a:rPr lang="en-US" dirty="0"/>
              <a:t>Data was obtained using:</a:t>
            </a:r>
          </a:p>
          <a:p>
            <a:r>
              <a:rPr lang="en-US" dirty="0"/>
              <a:t>SpaceX REST API</a:t>
            </a:r>
          </a:p>
          <a:p>
            <a:r>
              <a:rPr lang="en-US" dirty="0"/>
              <a:t>Web scraping techniques (if applicable)</a:t>
            </a:r>
          </a:p>
          <a:p>
            <a:r>
              <a:rPr lang="en-US" b="1" dirty="0"/>
              <a:t>Tools Used for Data Collection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</a:t>
            </a:r>
          </a:p>
          <a:p>
            <a:r>
              <a:rPr lang="en-US" dirty="0"/>
              <a:t>Requests (API calls)</a:t>
            </a:r>
          </a:p>
          <a:p>
            <a:r>
              <a:rPr lang="en-US" dirty="0" err="1"/>
              <a:t>BeautifulSoup</a:t>
            </a:r>
            <a:r>
              <a:rPr lang="en-US" dirty="0"/>
              <a:t> (for web scraping)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67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33BB-1840-91EB-7E8B-66D5F5F5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Purpose of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72BF-6642-5176-DDFF-8CB521D8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collected data provides historical launch details required to:</a:t>
            </a:r>
          </a:p>
          <a:p>
            <a:r>
              <a:rPr lang="en-US" sz="4400" dirty="0"/>
              <a:t>Analyze landing patterns</a:t>
            </a:r>
          </a:p>
          <a:p>
            <a:r>
              <a:rPr lang="en-US" sz="4400" dirty="0"/>
              <a:t>Perform exploratory data analysis</a:t>
            </a:r>
          </a:p>
          <a:p>
            <a:r>
              <a:rPr lang="en-US" sz="4400" dirty="0"/>
              <a:t>Train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144085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A350-EC44-B8A6-2920-5496552A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Wrangling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741B-17C6-2CE1-6D1C-E5117F362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/>
              <a:t>Data Cleaning</a:t>
            </a:r>
          </a:p>
          <a:p>
            <a:r>
              <a:rPr lang="en-US" sz="1600" dirty="0"/>
              <a:t>To prepare the dataset for analysis and modeling, the following steps were performed:</a:t>
            </a:r>
          </a:p>
          <a:p>
            <a:r>
              <a:rPr lang="en-US" sz="1600" dirty="0"/>
              <a:t>Checked for missing values</a:t>
            </a:r>
          </a:p>
          <a:p>
            <a:r>
              <a:rPr lang="en-US" sz="1600" dirty="0"/>
              <a:t>Removed or imputed null entries</a:t>
            </a:r>
          </a:p>
          <a:p>
            <a:r>
              <a:rPr lang="en-US" sz="1600" dirty="0"/>
              <a:t>Standardized column formats</a:t>
            </a:r>
          </a:p>
          <a:p>
            <a:r>
              <a:rPr lang="en-US" sz="1600" dirty="0"/>
              <a:t>Converted categorical variables into numerical format</a:t>
            </a:r>
          </a:p>
          <a:p>
            <a:r>
              <a:rPr lang="en-US" sz="1600" dirty="0"/>
              <a:t>Removed irrelevant or duplicate records</a:t>
            </a:r>
          </a:p>
          <a:p>
            <a:r>
              <a:rPr lang="en-US" sz="1600" b="1" dirty="0"/>
              <a:t>Handling Missing Values</a:t>
            </a:r>
          </a:p>
          <a:p>
            <a:r>
              <a:rPr lang="en-US" sz="1600" dirty="0"/>
              <a:t>Null values were identified using Pandas.</a:t>
            </a:r>
          </a:p>
          <a:p>
            <a:r>
              <a:rPr lang="en-US" sz="1600" dirty="0"/>
              <a:t>Missing numerical values were handled using mean/median imputation (if applicable).</a:t>
            </a:r>
          </a:p>
          <a:p>
            <a:r>
              <a:rPr lang="en-US" sz="1600" dirty="0"/>
              <a:t>Rows with excessive missing data were removed.</a:t>
            </a:r>
          </a:p>
          <a:p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22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94DCA2-B117-0C1A-10B5-C46FB17B11E0}"/>
              </a:ext>
            </a:extLst>
          </p:cNvPr>
          <p:cNvSpPr txBox="1"/>
          <p:nvPr/>
        </p:nvSpPr>
        <p:spPr>
          <a:xfrm>
            <a:off x="400049" y="333375"/>
            <a:ext cx="1134427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Feature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Converted landing outcome into binary format (Success = 1, Failure =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Encoded categorical variables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Launch Site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Orbit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Booster Version</a:t>
            </a:r>
          </a:p>
          <a:p>
            <a:pPr>
              <a:buNone/>
            </a:pPr>
            <a:br>
              <a:rPr lang="en-US" sz="2800" dirty="0"/>
            </a:br>
            <a:endParaRPr lang="en-US" sz="2800" dirty="0"/>
          </a:p>
          <a:p>
            <a:pPr>
              <a:buNone/>
            </a:pPr>
            <a:r>
              <a:rPr lang="en-US" sz="2800" b="1" dirty="0"/>
              <a:t>Why Data Wrangling is Important</a:t>
            </a:r>
          </a:p>
          <a:p>
            <a:pPr>
              <a:buNone/>
            </a:pPr>
            <a:r>
              <a:rPr lang="en-US" sz="2800" dirty="0"/>
              <a:t>Clean and structured data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Accurate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Better model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Reliable predictions</a:t>
            </a:r>
          </a:p>
        </p:txBody>
      </p:sp>
    </p:spTree>
    <p:extLst>
      <p:ext uri="{BB962C8B-B14F-4D97-AF65-F5344CB8AC3E}">
        <p14:creationId xmlns:p14="http://schemas.microsoft.com/office/powerpoint/2010/main" val="361073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1001-BF24-3ACB-AA84-341C8721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84596-DC5A-EB8B-FE6E-DCF3FE50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Objective of EDA</a:t>
            </a:r>
          </a:p>
          <a:p>
            <a:r>
              <a:rPr lang="en-US" dirty="0"/>
              <a:t>To understand patterns, trends, and relationships in historical launch data from SpaceX before building machine learning models.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Key Analyses Performed</a:t>
            </a:r>
          </a:p>
          <a:p>
            <a:r>
              <a:rPr lang="en-US" dirty="0"/>
              <a:t>Distribution of successful vs failed landings</a:t>
            </a:r>
          </a:p>
          <a:p>
            <a:r>
              <a:rPr lang="en-US" dirty="0"/>
              <a:t>Launch success rate by launch site</a:t>
            </a:r>
          </a:p>
          <a:p>
            <a:r>
              <a:rPr lang="en-US" dirty="0"/>
              <a:t>Relationship between payload mass and landing outcome</a:t>
            </a:r>
          </a:p>
          <a:p>
            <a:r>
              <a:rPr lang="en-US" dirty="0"/>
              <a:t>Year-wise improvement in landing success</a:t>
            </a:r>
          </a:p>
          <a:p>
            <a:r>
              <a:rPr lang="en-US" dirty="0"/>
              <a:t>Orbit type vs landing success</a:t>
            </a:r>
          </a:p>
        </p:txBody>
      </p:sp>
    </p:spTree>
    <p:extLst>
      <p:ext uri="{BB962C8B-B14F-4D97-AF65-F5344CB8AC3E}">
        <p14:creationId xmlns:p14="http://schemas.microsoft.com/office/powerpoint/2010/main" val="2124514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418196-259E-CB44-3146-67AB452A66E5}"/>
              </a:ext>
            </a:extLst>
          </p:cNvPr>
          <p:cNvSpPr txBox="1"/>
          <p:nvPr/>
        </p:nvSpPr>
        <p:spPr>
          <a:xfrm>
            <a:off x="352425" y="352425"/>
            <a:ext cx="879157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Major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Landing success rate improved significantly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Certain launch sites showed higher success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Medium payload masses had higher landing success probability.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Technological improvements contributed to consistent performance growth.</a:t>
            </a:r>
          </a:p>
          <a:p>
            <a:pPr>
              <a:buNone/>
            </a:pPr>
            <a:br>
              <a:rPr lang="en-US" sz="2800" dirty="0"/>
            </a:br>
            <a:endParaRPr lang="en-US" sz="2800" dirty="0"/>
          </a:p>
          <a:p>
            <a:pPr>
              <a:buNone/>
            </a:pPr>
            <a:r>
              <a:rPr lang="en-US" sz="2800" b="1" dirty="0"/>
              <a:t>Insights from EDA</a:t>
            </a:r>
          </a:p>
          <a:p>
            <a:pPr>
              <a:buNone/>
            </a:pPr>
            <a:r>
              <a:rPr lang="en-US" sz="2800" dirty="0"/>
              <a:t>EDA helped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Important predictive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Data trends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Variables strongly influencing landing outcome</a:t>
            </a:r>
          </a:p>
        </p:txBody>
      </p:sp>
    </p:spTree>
    <p:extLst>
      <p:ext uri="{BB962C8B-B14F-4D97-AF65-F5344CB8AC3E}">
        <p14:creationId xmlns:p14="http://schemas.microsoft.com/office/powerpoint/2010/main" val="1200549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3270-BCFA-8B1B-F205-88E4BA06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7️⃣ Data Visualization &amp; Analytical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28E0-B5D1-38B5-1D69-61F05DCC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📊 1. Launch Site vs Landing Success</a:t>
            </a:r>
          </a:p>
          <a:p>
            <a:r>
              <a:rPr lang="en-IN" dirty="0"/>
              <a:t>Bar chart showing success rate by launch site</a:t>
            </a:r>
          </a:p>
          <a:p>
            <a:r>
              <a:rPr lang="en-IN" dirty="0"/>
              <a:t>Certain sites demonstrated consistently higher landing reliability</a:t>
            </a:r>
          </a:p>
          <a:p>
            <a:r>
              <a:rPr lang="en-IN" b="1" dirty="0"/>
              <a:t>📈 2. Payload Mass vs Landing Outcome</a:t>
            </a:r>
          </a:p>
          <a:p>
            <a:r>
              <a:rPr lang="en-IN" dirty="0"/>
              <a:t>Scatter plot analysis</a:t>
            </a:r>
          </a:p>
          <a:p>
            <a:r>
              <a:rPr lang="en-IN" dirty="0"/>
              <a:t>Moderate payload ranges showed better landing success</a:t>
            </a:r>
          </a:p>
          <a:p>
            <a:r>
              <a:rPr lang="en-US" b="1" dirty="0"/>
              <a:t>📅 3. Year-wise Landing Trend</a:t>
            </a:r>
          </a:p>
          <a:p>
            <a:r>
              <a:rPr lang="en-US" dirty="0"/>
              <a:t>Line graph showing improvement over time</a:t>
            </a:r>
          </a:p>
          <a:p>
            <a:r>
              <a:rPr lang="en-US" dirty="0"/>
              <a:t>Clear upward trend in landing success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41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5BB9F-C72A-1802-4DA5-9D0B1A190244}"/>
              </a:ext>
            </a:extLst>
          </p:cNvPr>
          <p:cNvSpPr txBox="1"/>
          <p:nvPr/>
        </p:nvSpPr>
        <p:spPr>
          <a:xfrm>
            <a:off x="295275" y="295276"/>
            <a:ext cx="884872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Overall Insight</a:t>
            </a:r>
          </a:p>
          <a:p>
            <a:pPr>
              <a:buNone/>
            </a:pPr>
            <a:r>
              <a:rPr lang="en-US" sz="4000" dirty="0"/>
              <a:t>Visualizations clearly indicate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Landing success improved due to technological advancements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Launch conditions and payload mass significantly impact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Historical trends provide strong predictive signals for modeling</a:t>
            </a:r>
          </a:p>
        </p:txBody>
      </p:sp>
    </p:spTree>
    <p:extLst>
      <p:ext uri="{BB962C8B-B14F-4D97-AF65-F5344CB8AC3E}">
        <p14:creationId xmlns:p14="http://schemas.microsoft.com/office/powerpoint/2010/main" val="338829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42D35-2BC6-6BA6-A6BA-4EB76E35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5E22-7E54-8046-54DC-46AF30690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Purpose of Feature Engineering</a:t>
            </a:r>
          </a:p>
          <a:p>
            <a:r>
              <a:rPr lang="en-US" dirty="0"/>
              <a:t>Feature engineering was performed to enhance model performance by transforming raw data into meaningful inputs for prediction.</a:t>
            </a:r>
          </a:p>
          <a:p>
            <a:br>
              <a:rPr lang="en-US" dirty="0"/>
            </a:br>
            <a:r>
              <a:rPr lang="en-US" b="1" dirty="0"/>
              <a:t>New Features Created</a:t>
            </a:r>
          </a:p>
          <a:p>
            <a:r>
              <a:rPr lang="en-US" dirty="0"/>
              <a:t>Extracted </a:t>
            </a:r>
            <a:r>
              <a:rPr lang="en-US" b="1" dirty="0"/>
              <a:t>Year</a:t>
            </a:r>
            <a:r>
              <a:rPr lang="en-US" dirty="0"/>
              <a:t> from launch date</a:t>
            </a:r>
          </a:p>
          <a:p>
            <a:r>
              <a:rPr lang="en-US" dirty="0"/>
              <a:t>Converted landing outcome into binary format (1 = Success, 0 = Failure)</a:t>
            </a:r>
          </a:p>
          <a:p>
            <a:r>
              <a:rPr lang="en-US" dirty="0"/>
              <a:t>Encoded categorical variables:</a:t>
            </a:r>
          </a:p>
          <a:p>
            <a:pPr lvl="1"/>
            <a:r>
              <a:rPr lang="en-US" dirty="0"/>
              <a:t>Launch Site</a:t>
            </a:r>
          </a:p>
          <a:p>
            <a:pPr lvl="1"/>
            <a:r>
              <a:rPr lang="en-US" dirty="0"/>
              <a:t>Orbit Type</a:t>
            </a:r>
          </a:p>
          <a:p>
            <a:pPr lvl="1"/>
            <a:r>
              <a:rPr lang="en-US" dirty="0"/>
              <a:t>Booster 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306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C321-FA56-FD10-5329-8A6EDA89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 Techniques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D8DE04-440F-C84C-EDCA-6B0BCEE43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526" y="1852212"/>
            <a:ext cx="9077324" cy="409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 for categorical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for numerical variables (if applied)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Removal of highly correlated or redundant features</a:t>
            </a:r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Why Feature Engineering Matters</a:t>
            </a:r>
          </a:p>
          <a:p>
            <a:r>
              <a:rPr lang="en-US" sz="1800" dirty="0"/>
              <a:t>Effective feature engineering:</a:t>
            </a:r>
          </a:p>
          <a:p>
            <a:r>
              <a:rPr lang="en-US" sz="1800" dirty="0"/>
              <a:t>Improves model accuracy</a:t>
            </a:r>
          </a:p>
          <a:p>
            <a:r>
              <a:rPr lang="en-US" sz="1800" dirty="0"/>
              <a:t>Reduces overfitting</a:t>
            </a:r>
          </a:p>
          <a:p>
            <a:r>
              <a:rPr lang="en-US" sz="1800" dirty="0"/>
              <a:t>Enhances prediction reliability</a:t>
            </a:r>
          </a:p>
          <a:p>
            <a:r>
              <a:rPr lang="en-US" sz="1800" dirty="0"/>
              <a:t>Identifies the most influential factors affecting landing success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975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355E-601D-5D86-DD7F-56372103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9C22-E829-B592-F39F-F87E13C8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</a:p>
          <a:p>
            <a:r>
              <a:rPr lang="en-US" dirty="0"/>
              <a:t>To build classification models that predict whether the Falcon 9 first stage from SpaceX will land successfully.</a:t>
            </a:r>
          </a:p>
          <a:p>
            <a:r>
              <a:rPr lang="en-US" b="1" dirty="0"/>
              <a:t>Models Implemented</a:t>
            </a:r>
          </a:p>
          <a:p>
            <a:r>
              <a:rPr lang="en-US" b="1" dirty="0"/>
              <a:t>1️⃣ Logistic Regression</a:t>
            </a:r>
          </a:p>
          <a:p>
            <a:r>
              <a:rPr lang="en-US" dirty="0"/>
              <a:t>A statistical classification model</a:t>
            </a:r>
          </a:p>
          <a:p>
            <a:r>
              <a:rPr lang="en-US" dirty="0"/>
              <a:t>Estimates probability of landing success</a:t>
            </a:r>
          </a:p>
          <a:p>
            <a:r>
              <a:rPr lang="en-US" dirty="0"/>
              <a:t>Simple and interpretable baseline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57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88DDCB-9E89-38E2-5EBB-AD8E6CE14F21}"/>
              </a:ext>
            </a:extLst>
          </p:cNvPr>
          <p:cNvSpPr txBox="1"/>
          <p:nvPr/>
        </p:nvSpPr>
        <p:spPr>
          <a:xfrm>
            <a:off x="476250" y="352425"/>
            <a:ext cx="86677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2️⃣ Decision Tree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Tree-based model that splits data based on feature 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Easy to visualize and interpret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Handles nonlinear relationships</a:t>
            </a:r>
          </a:p>
          <a:p>
            <a:r>
              <a:rPr lang="en-US" sz="2000" b="1" dirty="0"/>
              <a:t>3️⃣ Random Forest Classifier</a:t>
            </a:r>
          </a:p>
          <a:p>
            <a:r>
              <a:rPr lang="en-US" sz="2000" dirty="0"/>
              <a:t>Ensemble method using multiple decision trees</a:t>
            </a:r>
          </a:p>
          <a:p>
            <a:r>
              <a:rPr lang="en-US" sz="2000" dirty="0"/>
              <a:t>Reduces overfitting</a:t>
            </a:r>
          </a:p>
          <a:p>
            <a:r>
              <a:rPr lang="en-US" sz="2000" dirty="0"/>
              <a:t>Provides higher accuracy and stability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4️⃣ Support Vector Machine (SVM)</a:t>
            </a:r>
          </a:p>
          <a:p>
            <a:r>
              <a:rPr lang="en-US" sz="2000" dirty="0"/>
              <a:t>Finds optimal boundary between success and failure classes</a:t>
            </a:r>
          </a:p>
          <a:p>
            <a:r>
              <a:rPr lang="en-US" sz="2000" dirty="0"/>
              <a:t>Effective for complex classification problems</a:t>
            </a:r>
          </a:p>
          <a:p>
            <a:r>
              <a:rPr lang="en-US" sz="2000" b="1" dirty="0"/>
              <a:t>Why Multiple Models?</a:t>
            </a:r>
          </a:p>
          <a:p>
            <a:r>
              <a:rPr lang="en-US" sz="2000" dirty="0"/>
              <a:t>Testing multiple algorithms helps:</a:t>
            </a:r>
          </a:p>
          <a:p>
            <a:r>
              <a:rPr lang="en-US" sz="2000" dirty="0"/>
              <a:t>Compare performance</a:t>
            </a:r>
          </a:p>
          <a:p>
            <a:r>
              <a:rPr lang="en-US" sz="2000" dirty="0"/>
              <a:t>Select the most accurate model</a:t>
            </a:r>
          </a:p>
          <a:p>
            <a:r>
              <a:rPr lang="en-US" sz="2000" dirty="0"/>
              <a:t>Ensure robustness of predictions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6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370B-0C1C-EF51-65D6-0A9DC554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🔟 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52AB-00F3-EA79-BDA0-BDDDB11F4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Model Training Process</a:t>
            </a:r>
          </a:p>
          <a:p>
            <a:r>
              <a:rPr lang="en-US" sz="1800" dirty="0"/>
              <a:t>Dataset split into:</a:t>
            </a:r>
          </a:p>
          <a:p>
            <a:pPr lvl="1"/>
            <a:r>
              <a:rPr lang="en-US" sz="1800" b="1" dirty="0"/>
              <a:t>Training Set (80%)</a:t>
            </a:r>
            <a:endParaRPr lang="en-US" sz="1800" dirty="0"/>
          </a:p>
          <a:p>
            <a:pPr lvl="1"/>
            <a:r>
              <a:rPr lang="en-US" sz="1800" b="1" dirty="0"/>
              <a:t>Testing Set (20%)</a:t>
            </a:r>
            <a:endParaRPr lang="en-US" sz="1800" dirty="0"/>
          </a:p>
          <a:p>
            <a:r>
              <a:rPr lang="en-US" sz="1800" dirty="0"/>
              <a:t>Models were trained using historical launch data from SpaceX.</a:t>
            </a:r>
          </a:p>
          <a:p>
            <a:r>
              <a:rPr lang="en-US" sz="1800" dirty="0"/>
              <a:t>Cross-validation was applied to improve reliability.</a:t>
            </a:r>
          </a:p>
          <a:p>
            <a:r>
              <a:rPr lang="en-US" sz="1800" b="1" dirty="0"/>
              <a:t>Evaluation Metrics Used</a:t>
            </a:r>
          </a:p>
          <a:p>
            <a:r>
              <a:rPr lang="en-US" sz="1800" dirty="0"/>
              <a:t>To measure model performance, the following metrics were used:</a:t>
            </a:r>
          </a:p>
          <a:p>
            <a:r>
              <a:rPr lang="en-US" sz="1800" b="1" dirty="0"/>
              <a:t>Accuracy Score</a:t>
            </a:r>
            <a:endParaRPr lang="en-US" sz="1800" dirty="0"/>
          </a:p>
          <a:p>
            <a:r>
              <a:rPr lang="en-US" sz="1800" b="1" dirty="0"/>
              <a:t>Confusion Matrix</a:t>
            </a:r>
            <a:endParaRPr lang="en-US" sz="1800" dirty="0"/>
          </a:p>
          <a:p>
            <a:r>
              <a:rPr lang="en-US" sz="1800" b="1" dirty="0"/>
              <a:t>Precision</a:t>
            </a:r>
            <a:endParaRPr lang="en-US" sz="1800" dirty="0"/>
          </a:p>
          <a:p>
            <a:r>
              <a:rPr lang="en-US" sz="1800" b="1" dirty="0"/>
              <a:t>Recall</a:t>
            </a:r>
            <a:endParaRPr lang="en-US" sz="1800" dirty="0"/>
          </a:p>
          <a:p>
            <a:r>
              <a:rPr lang="en-US" sz="1800" b="1" dirty="0"/>
              <a:t>F1-Score</a:t>
            </a:r>
            <a:endParaRPr lang="en-US" sz="1800" dirty="0"/>
          </a:p>
          <a:p>
            <a:pPr marL="0" indent="0">
              <a:buNone/>
            </a:pP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64191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0AB9-A4D7-7FA1-2B61-46162902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F274DE-C682-73D4-950E-E685B09A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660197"/>
              </p:ext>
            </p:extLst>
          </p:nvPr>
        </p:nvGraphicFramePr>
        <p:xfrm>
          <a:off x="838200" y="2200275"/>
          <a:ext cx="10515600" cy="401955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728010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4612561"/>
                    </a:ext>
                  </a:extLst>
                </a:gridCol>
              </a:tblGrid>
              <a:tr h="803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88091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651678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807179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077165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682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3D20-99F1-15E5-B41C-8B5FD1C3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1️⃣2️⃣ Results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BCC1-9C3F-3649-84D6-0B61012ED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Model Performance Summary</a:t>
            </a:r>
          </a:p>
          <a:p>
            <a:r>
              <a:rPr lang="en-US" dirty="0"/>
              <a:t>Random Forest achieved the highest prediction accuracy.</a:t>
            </a:r>
          </a:p>
          <a:p>
            <a:r>
              <a:rPr lang="en-US" dirty="0"/>
              <a:t>Landing success rate has significantly improved over the years.</a:t>
            </a:r>
          </a:p>
          <a:p>
            <a:r>
              <a:rPr lang="en-US" dirty="0"/>
              <a:t>Certain launch sites show consistently higher landing success.</a:t>
            </a:r>
          </a:p>
          <a:p>
            <a:r>
              <a:rPr lang="en-US" dirty="0"/>
              <a:t>Payload mass and orbit type strongly influence landing outcome.</a:t>
            </a:r>
          </a:p>
          <a:p>
            <a:br>
              <a:rPr lang="en-US" dirty="0"/>
            </a:br>
            <a:r>
              <a:rPr lang="en-US" b="1" dirty="0"/>
              <a:t>Important Predictive Features</a:t>
            </a:r>
          </a:p>
          <a:p>
            <a:r>
              <a:rPr lang="en-US" dirty="0"/>
              <a:t>Based on feature importance analysis:</a:t>
            </a:r>
          </a:p>
          <a:p>
            <a:r>
              <a:rPr lang="en-US" dirty="0"/>
              <a:t>Launch Site</a:t>
            </a:r>
          </a:p>
          <a:p>
            <a:r>
              <a:rPr lang="en-US" dirty="0"/>
              <a:t>Payload Mass</a:t>
            </a:r>
          </a:p>
          <a:p>
            <a:r>
              <a:rPr lang="en-US" dirty="0"/>
              <a:t>Orbit Type</a:t>
            </a:r>
          </a:p>
          <a:p>
            <a:r>
              <a:rPr lang="en-US" dirty="0"/>
              <a:t>Booster Version</a:t>
            </a:r>
          </a:p>
          <a:p>
            <a:r>
              <a:rPr lang="en-US" dirty="0"/>
              <a:t>These variables had the greatest impact on predicting landing success for SpaceX.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492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FE5B-7DEB-5560-8A66-0095977C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1️⃣3️⃣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ACD4-3395-4852-9769-E2E39096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How This Model Adds Value</a:t>
            </a:r>
          </a:p>
          <a:p>
            <a:r>
              <a:rPr lang="en-US" dirty="0"/>
              <a:t>Improves launch cost estimation accuracy</a:t>
            </a:r>
          </a:p>
          <a:p>
            <a:r>
              <a:rPr lang="en-US" dirty="0"/>
              <a:t>Supports better risk assessment</a:t>
            </a:r>
          </a:p>
          <a:p>
            <a:r>
              <a:rPr lang="en-US" dirty="0"/>
              <a:t>Enables data-driven decision-making</a:t>
            </a:r>
          </a:p>
          <a:p>
            <a:r>
              <a:rPr lang="en-US" dirty="0"/>
              <a:t>Helps estimate reusability potential before launch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Strategic Benefit</a:t>
            </a:r>
          </a:p>
          <a:p>
            <a:r>
              <a:rPr lang="en-US" dirty="0"/>
              <a:t>Accurate landing prediction can:</a:t>
            </a:r>
          </a:p>
          <a:p>
            <a:r>
              <a:rPr lang="en-US" dirty="0"/>
              <a:t>Reduce financial uncertainty</a:t>
            </a:r>
          </a:p>
          <a:p>
            <a:r>
              <a:rPr lang="en-US" dirty="0"/>
              <a:t>Optimize mission planning</a:t>
            </a:r>
          </a:p>
          <a:p>
            <a:r>
              <a:rPr lang="en-US" dirty="0"/>
              <a:t>Increase operational efficiency</a:t>
            </a:r>
          </a:p>
          <a:p>
            <a:r>
              <a:rPr lang="en-US" dirty="0"/>
              <a:t>This supports the long-term cost-reduction strategy of SpaceX.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825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2532-FC55-FF05-F4CF-1F68A03F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1️⃣4️⃣ Limitations &amp;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0F469-9252-1C7B-0E10-A1C348F29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Limitations</a:t>
            </a:r>
          </a:p>
          <a:p>
            <a:r>
              <a:rPr lang="en-US" dirty="0"/>
              <a:t>Limited historical dataset size</a:t>
            </a:r>
          </a:p>
          <a:p>
            <a:r>
              <a:rPr lang="en-US" dirty="0"/>
              <a:t>Some missing environmental variables (weather, wind speed)</a:t>
            </a:r>
          </a:p>
          <a:p>
            <a:r>
              <a:rPr lang="en-US" dirty="0"/>
              <a:t>Assumption of balanced data distribution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Future Improvements</a:t>
            </a:r>
          </a:p>
          <a:p>
            <a:r>
              <a:rPr lang="en-US" dirty="0"/>
              <a:t>Include real-time weather data</a:t>
            </a:r>
          </a:p>
          <a:p>
            <a:r>
              <a:rPr lang="en-US" dirty="0"/>
              <a:t>Use Deep Learning models</a:t>
            </a:r>
          </a:p>
          <a:p>
            <a:r>
              <a:rPr lang="en-US" dirty="0"/>
              <a:t>Apply advanced hyperparameter tuning</a:t>
            </a:r>
          </a:p>
          <a:p>
            <a:r>
              <a:rPr lang="en-US" dirty="0"/>
              <a:t>Deploy model as a web application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957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FA56-3FB4-4C99-EC26-DCB1A3BA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1️⃣5️⃣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B1794-0CD8-34AB-7E60-B9338BE7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/>
              <a:t>Project Summary</a:t>
            </a:r>
          </a:p>
          <a:p>
            <a:r>
              <a:rPr lang="en-US" sz="1800" dirty="0"/>
              <a:t>This project successfully:</a:t>
            </a:r>
          </a:p>
          <a:p>
            <a:r>
              <a:rPr lang="en-US" sz="1800" dirty="0"/>
              <a:t>Collected and cleaned historical launch data</a:t>
            </a:r>
          </a:p>
          <a:p>
            <a:r>
              <a:rPr lang="en-US" sz="1800" dirty="0"/>
              <a:t>Performed exploratory data analysis</a:t>
            </a:r>
          </a:p>
          <a:p>
            <a:r>
              <a:rPr lang="en-US" sz="1800" dirty="0"/>
              <a:t>Built multiple machine learning models</a:t>
            </a:r>
          </a:p>
          <a:p>
            <a:r>
              <a:rPr lang="en-US" sz="1800" dirty="0"/>
              <a:t>Selected the best-performing classifier</a:t>
            </a:r>
          </a:p>
          <a:p>
            <a:r>
              <a:rPr lang="en-US" sz="1800" dirty="0"/>
              <a:t>Generated actionable business insights</a:t>
            </a:r>
            <a:br>
              <a:rPr lang="en-US" dirty="0"/>
            </a:br>
            <a:r>
              <a:rPr lang="en-US" sz="2200" b="1" dirty="0"/>
              <a:t>Final Outcome</a:t>
            </a:r>
          </a:p>
          <a:p>
            <a:r>
              <a:rPr lang="en-US" sz="2200" dirty="0"/>
              <a:t>The developed predictive model demonstrates that landing success of Falcon 9 can be estimated with high reliability using historical data.</a:t>
            </a:r>
          </a:p>
          <a:p>
            <a:r>
              <a:rPr lang="en-US" sz="2200" dirty="0"/>
              <a:t>This project validates the practical application of data science techniques in solving real-world aerospace business challenges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6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1240</Words>
  <Application>Microsoft Office PowerPoint</Application>
  <PresentationFormat>Widescreen</PresentationFormat>
  <Paragraphs>222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Applied Data Science Capstone Project    Predicting SpaceX Falcon 9 First Stage Landing Success</vt:lpstr>
      <vt:lpstr>2️⃣ Problem Statement</vt:lpstr>
      <vt:lpstr>         Business Goal  To develop a predictive model that can: Identify key factors influencing landing success. Improve cost estimation accuracy. Provide actionable insights based on historical data.  </vt:lpstr>
      <vt:lpstr>         Business Understanding &amp; Industry Context  Industry Overview SpaceX is a private aerospace company focused on reducing space transportation costs and enabling the colonization of Mars. One of its major innovations is the reusable Falcon 9 rocket, which allows the first stage booster to land safely after launch.</vt:lpstr>
      <vt:lpstr>Business Challenge</vt:lpstr>
      <vt:lpstr>Data Collection</vt:lpstr>
      <vt:lpstr>Purpose of Data Collection</vt:lpstr>
      <vt:lpstr>Data Wrangling &amp; Preprocessing</vt:lpstr>
      <vt:lpstr>PowerPoint Presentation</vt:lpstr>
      <vt:lpstr>Exploratory Data Analysis (EDA)</vt:lpstr>
      <vt:lpstr>PowerPoint Presentation</vt:lpstr>
      <vt:lpstr>7️⃣ Data Visualization &amp; Analytical Insights</vt:lpstr>
      <vt:lpstr>PowerPoint Presentation</vt:lpstr>
      <vt:lpstr>Feature Engineering</vt:lpstr>
      <vt:lpstr>Data Transformation Techniques</vt:lpstr>
      <vt:lpstr>Machine Learning Models Used</vt:lpstr>
      <vt:lpstr>PowerPoint Presentation</vt:lpstr>
      <vt:lpstr>🔟 Model Training &amp; Evaluation</vt:lpstr>
      <vt:lpstr>PERFORMANCE COMPARISON</vt:lpstr>
      <vt:lpstr>1️⃣2️⃣ Results &amp; Key Findings</vt:lpstr>
      <vt:lpstr>1️⃣3️⃣ Business Impact</vt:lpstr>
      <vt:lpstr>1️⃣4️⃣ Limitations &amp; Future Improvements</vt:lpstr>
      <vt:lpstr>1️⃣5️⃣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AJAI</dc:creator>
  <cp:lastModifiedBy>KAVIN AJAI</cp:lastModifiedBy>
  <cp:revision>1</cp:revision>
  <dcterms:created xsi:type="dcterms:W3CDTF">2026-03-05T02:31:15Z</dcterms:created>
  <dcterms:modified xsi:type="dcterms:W3CDTF">2026-03-05T03:01:17Z</dcterms:modified>
</cp:coreProperties>
</file>